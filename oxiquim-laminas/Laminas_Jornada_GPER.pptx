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c55a71a5-a831-08be-0b0c-09d795c54c3a}">
          <p14:sldIdLst>
            <p14:sldId id="256"/>
            <p14:sldId id="257"/>
          </p14:sldIdLst>
        </p14:section>
        <p14:section name="Actividades" id="{bf0ef8fc-c597-f17d-12cf-b28f4cb9988a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Cierre" id="{0af1dc0c-146d-542b-8f5c-fe36f0b94d93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Jornada Gerencia de Personas «Del diagnóstico a la acción». Casa Conecta.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del día, de 08:30 a 20:00.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del diagnóstico. Presentación de los resultados de CIS Consultores. Conduce: Gerente de Personas. Para qué: Conocer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Conversación en grupos. Y luego, preguntas al plenario. Participan: Todo el equipo. Para qué: Procesar los resultados.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Ordenamiento de prioridades. Plan de trabajo: mirada desde el diagnóstico CIS. Primero individual, luego en plenario. Conduce: Gerente de Personas. Para qué: Revisar el plan y entender cómo avanzaremos hacia un rol más estratégico.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del trabajo. Repaso de lo avanzado en la mañana. Participan: Todo el equipo. Para qué: Aclarar dudas.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Fundamentar la respuesta. Plan de trabajo: mirada desde el diagnóstico CIS. Plenario por grupo. Conduce: Facilitador. Para qué: Mirada común, prioridades claras y hoja de ruta compartida.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Indicadores (KPI). Plan de trabajo: mirada desde el diagnóstico CIS. Plenario por grupo. Conduce: Facilitador. Para qué: Mirada común, prioridades claras y hoja de ruta compartida.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Conduce: Gerente de Personas y equipo. Conclusiones y compromisos. Para qué: cerrar con acuerdos explícitos. Resultados del día: mirada común, prioridades claras y hoja de ruta compartida.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«R35 necesita a personas».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ENVENI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oxiquim-laminas/art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168" y="1600200"/>
            <a:ext cx="4023360" cy="8214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063240"/>
            <a:ext cx="1036289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dirty="0">
                <a:solidFill>
                  <a:schemeClr val="tx2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74904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6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ctr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3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0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ctr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2727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Jornada Gerencia de Personas  ·  Del diagnóstico a la acción</a:t>
            </a:r>
            <a:endParaRPr lang="en-US" sz="1100" dirty="0"/>
          </a:p>
        </p:txBody>
      </p:sp>
      <p:pic>
        <p:nvPicPr>
          <p:cNvPr id="3" name="Image 0" descr="/home/user/claude/oxiquim-laminas/art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2" y="6263640"/>
            <a:ext cx="1097280" cy="2240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DAD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902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PARA QUÉ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62727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Jornada Gerencia de Personas  ·  Del diagnóstico a la acción</a:t>
            </a:r>
            <a:endParaRPr lang="en-US" sz="1100" dirty="0"/>
          </a:p>
        </p:txBody>
      </p:sp>
      <p:pic>
        <p:nvPicPr>
          <p:cNvPr id="4" name="Image 0" descr="/home/user/claude/oxiquim-laminas/art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2" y="6263640"/>
            <a:ext cx="1097280" cy="224028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2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19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DAD_ANCHA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035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PARA QUÉ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627278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Jornada Gerencia de Personas  ·  Del diagnóstico a la acción</a:t>
            </a:r>
            <a:endParaRPr lang="en-US" sz="1100" dirty="0"/>
          </a:p>
        </p:txBody>
      </p:sp>
      <p:pic>
        <p:nvPicPr>
          <p:cNvPr id="4" name="Image 0" descr="/home/user/claude/oxiquim-laminas/art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0152" y="6263640"/>
            <a:ext cx="1097280" cy="224028"/>
          </a:xfrm>
          <a:prstGeom prst="rect">
            <a:avLst/>
          </a:prstGeom>
        </p:spPr>
      </p:pic>
      <p:sp>
        <p:nvSpPr>
          <p:cNvPr id="5" name="Text 2"/>
          <p:cNvSpPr/>
          <p:nvPr>
            <p:ph idx="103" type="body" hasCustomPrompt="1"/>
          </p:nvPr>
        </p:nvSpPr>
        <p:spPr>
          <a:xfrm>
            <a:off x="1225296" y="1783080"/>
            <a:ext cx="102412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31520" y="2194560"/>
            <a:ext cx="1069848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31520" y="3346704"/>
            <a:ext cx="106984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defRPr>
            </a:lvl1pPr>
          </a:lstStyle>
          <a:p>
            <a:pPr algn="l" indent="0" marL="0">
              <a:buNone/>
            </a:pPr>
            <a:endParaRPr lang="en-US" sz="1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914400" y="306324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Bienvenidos a la jornada</a:t>
            </a:r>
            <a:endParaRPr lang="en-US" sz="3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749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“Del diagnóstico a la </a:t>
            </a:r>
            <a:pPr algn="ctr" indent="0" marL="0">
              <a:buNone/>
            </a:pPr>
            <a:r>
              <a:rPr lang="en-US" sz="5600" dirty="0">
                <a:solidFill>
                  <a:schemeClr val="accent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acción”</a:t>
            </a:r>
            <a:endParaRPr lang="en-US" sz="5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731520" y="73152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Agenda del día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916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MAÑANA</a:t>
            </a:r>
            <a:endParaRPr lang="en-US" sz="1400" dirty="0"/>
          </a:p>
        </p:txBody>
      </p:sp>
      <p:sp>
        <p:nvSpPr>
          <p:cNvPr id="4" name="Línea MAÑANA"/>
          <p:cNvSpPr/>
          <p:nvPr/>
        </p:nvSpPr>
        <p:spPr>
          <a:xfrm>
            <a:off x="800100" y="2331720"/>
            <a:ext cx="0" cy="3200400"/>
          </a:xfrm>
          <a:prstGeom prst="line">
            <a:avLst/>
          </a:prstGeom>
          <a:noFill/>
          <a:ln w="19050">
            <a:solidFill>
              <a:srgbClr val="C6D6EE"/>
            </a:solidFill>
            <a:prstDash val="solid"/>
          </a:ln>
        </p:spPr>
      </p:sp>
      <p:sp>
        <p:nvSpPr>
          <p:cNvPr id="5" name="Punto Bienvenida y desayuno"/>
          <p:cNvSpPr/>
          <p:nvPr/>
        </p:nvSpPr>
        <p:spPr>
          <a:xfrm>
            <a:off x="731520" y="226314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8992" y="21031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08:30 – 09:00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560320" y="2103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Bienvenida y desayuno</a:t>
            </a:r>
            <a:endParaRPr lang="en-US" sz="1800" dirty="0"/>
          </a:p>
        </p:txBody>
      </p:sp>
      <p:sp>
        <p:nvSpPr>
          <p:cNvPr id="8" name="Punto Video y diagnóstico CIS"/>
          <p:cNvSpPr/>
          <p:nvPr/>
        </p:nvSpPr>
        <p:spPr>
          <a:xfrm>
            <a:off x="731520" y="290322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8992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09:00 – 10:00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2743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Video y diagnóstico CIS</a:t>
            </a:r>
            <a:endParaRPr lang="en-US" sz="1800" dirty="0"/>
          </a:p>
        </p:txBody>
      </p:sp>
      <p:sp>
        <p:nvSpPr>
          <p:cNvPr id="11" name="Punto Conversación en grupos"/>
          <p:cNvSpPr/>
          <p:nvPr/>
        </p:nvSpPr>
        <p:spPr>
          <a:xfrm>
            <a:off x="731520" y="354330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78992" y="33832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10:00 – 10:15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Conversación en grupos</a:t>
            </a:r>
            <a:endParaRPr lang="en-US" sz="1800" dirty="0"/>
          </a:p>
        </p:txBody>
      </p:sp>
      <p:sp>
        <p:nvSpPr>
          <p:cNvPr id="14" name="Punto Pausa"/>
          <p:cNvSpPr/>
          <p:nvPr/>
        </p:nvSpPr>
        <p:spPr>
          <a:xfrm>
            <a:off x="731520" y="4183380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3CB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4023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10:15 – 10:30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Pausa</a:t>
            </a:r>
            <a:endParaRPr lang="en-US" sz="1800" dirty="0"/>
          </a:p>
        </p:txBody>
      </p:sp>
      <p:sp>
        <p:nvSpPr>
          <p:cNvPr id="17" name="Punto Ordenamiento de prioridades"/>
          <p:cNvSpPr/>
          <p:nvPr/>
        </p:nvSpPr>
        <p:spPr>
          <a:xfrm>
            <a:off x="731520" y="482346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8992" y="4663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10:30 – 13:30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4663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Ordenamiento de prioridades</a:t>
            </a:r>
            <a:endParaRPr lang="en-US" sz="1800" dirty="0"/>
          </a:p>
        </p:txBody>
      </p:sp>
      <p:sp>
        <p:nvSpPr>
          <p:cNvPr id="20" name="Punto Almuerzo"/>
          <p:cNvSpPr/>
          <p:nvPr/>
        </p:nvSpPr>
        <p:spPr>
          <a:xfrm>
            <a:off x="731520" y="5463540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3CB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78992" y="53035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13:30 – 14:30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Almuerzo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16916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TARDE</a:t>
            </a:r>
            <a:endParaRPr lang="en-US" sz="1400" dirty="0"/>
          </a:p>
        </p:txBody>
      </p:sp>
      <p:sp>
        <p:nvSpPr>
          <p:cNvPr id="24" name="Línea TARDE"/>
          <p:cNvSpPr/>
          <p:nvPr/>
        </p:nvSpPr>
        <p:spPr>
          <a:xfrm>
            <a:off x="6423660" y="2331720"/>
            <a:ext cx="0" cy="3200400"/>
          </a:xfrm>
          <a:prstGeom prst="line">
            <a:avLst/>
          </a:prstGeom>
          <a:noFill/>
          <a:ln w="19050">
            <a:solidFill>
              <a:srgbClr val="C6D6EE"/>
            </a:solidFill>
            <a:prstDash val="solid"/>
          </a:ln>
        </p:spPr>
      </p:sp>
      <p:sp>
        <p:nvSpPr>
          <p:cNvPr id="25" name="Punto Resumen del trabajo"/>
          <p:cNvSpPr/>
          <p:nvPr/>
        </p:nvSpPr>
        <p:spPr>
          <a:xfrm>
            <a:off x="6355080" y="226314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02552" y="21031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14:30 – 14:45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21031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Resumen del trabajo</a:t>
            </a:r>
            <a:endParaRPr lang="en-US" sz="1800" dirty="0"/>
          </a:p>
        </p:txBody>
      </p:sp>
      <p:sp>
        <p:nvSpPr>
          <p:cNvPr id="28" name="Punto Fundamentar la respuesta"/>
          <p:cNvSpPr/>
          <p:nvPr/>
        </p:nvSpPr>
        <p:spPr>
          <a:xfrm>
            <a:off x="6355080" y="290322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02552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14:45 – 15:45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183880" y="27432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Fundamentar la respuesta</a:t>
            </a:r>
            <a:endParaRPr lang="en-US" sz="1800" dirty="0"/>
          </a:p>
        </p:txBody>
      </p:sp>
      <p:sp>
        <p:nvSpPr>
          <p:cNvPr id="31" name="Punto Pausa"/>
          <p:cNvSpPr/>
          <p:nvPr/>
        </p:nvSpPr>
        <p:spPr>
          <a:xfrm>
            <a:off x="6355080" y="3543300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3CBE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02552" y="338328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15:45 – 16:00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183880" y="33832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Pausa</a:t>
            </a:r>
            <a:endParaRPr lang="en-US" sz="1800" dirty="0"/>
          </a:p>
        </p:txBody>
      </p:sp>
      <p:sp>
        <p:nvSpPr>
          <p:cNvPr id="34" name="Punto Indicadores (KPI)"/>
          <p:cNvSpPr/>
          <p:nvPr/>
        </p:nvSpPr>
        <p:spPr>
          <a:xfrm>
            <a:off x="6355080" y="418338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02552" y="4023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16:00 – 17:00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8183880" y="4023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Indicadores (KPI)</a:t>
            </a:r>
            <a:endParaRPr lang="en-US" sz="1800" dirty="0"/>
          </a:p>
        </p:txBody>
      </p:sp>
      <p:sp>
        <p:nvSpPr>
          <p:cNvPr id="37" name="Punto Conclusiones y compromisos"/>
          <p:cNvSpPr/>
          <p:nvPr/>
        </p:nvSpPr>
        <p:spPr>
          <a:xfrm>
            <a:off x="6355080" y="4823460"/>
            <a:ext cx="137160" cy="137160"/>
          </a:xfrm>
          <a:prstGeom prst="ellipse">
            <a:avLst/>
          </a:prstGeom>
          <a:solidFill>
            <a:srgbClr val="0055B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702552" y="466344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17:00 – 17:30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183880" y="46634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Goli Medium" pitchFamily="34" charset="0"/>
                <a:ea typeface="Goli Medium" pitchFamily="34" charset="-122"/>
                <a:cs typeface="Goli Medium" pitchFamily="34" charset="-120"/>
              </a:rPr>
              <a:t>Conclusiones y compromisos</a:t>
            </a:r>
            <a:endParaRPr lang="en-US" sz="1800" dirty="0"/>
          </a:p>
        </p:txBody>
      </p:sp>
      <p:sp>
        <p:nvSpPr>
          <p:cNvPr id="40" name="Punto Convivencia en equipo"/>
          <p:cNvSpPr/>
          <p:nvPr/>
        </p:nvSpPr>
        <p:spPr>
          <a:xfrm>
            <a:off x="6355080" y="5463540"/>
            <a:ext cx="137160" cy="1371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3CBE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02552" y="530352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17:30 – 20:00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81838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Convivencia en equipo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Resultados del diagnóstico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1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Gerente de Personas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Resultados del diagnóstico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Presentación de los resultados de CIS Consultores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Conocer los resultados</a:t>
            </a:r>
            <a:endParaRPr lang="en-US" sz="1900" dirty="0"/>
          </a:p>
        </p:txBody>
      </p:sp>
      <p:pic>
        <p:nvPicPr>
          <p:cNvPr id="7" name="Arte Resultados del diagnóstico" descr="Resultados del diagnóst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Conversación en grupos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3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Participan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Todo el equipo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Conversación en grupos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luego, preguntas al plenario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Procesar los resultados</a:t>
            </a:r>
            <a:endParaRPr lang="en-US" sz="1900" dirty="0"/>
          </a:p>
        </p:txBody>
      </p:sp>
      <p:pic>
        <p:nvPicPr>
          <p:cNvPr id="7" name="Arte Conversación en grupos" descr="Conversación en grup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Ordenamiento de prioridades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5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Gerente de Personas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Ordenamiento de prioridades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trabajo: mirada desde el diagnóstico CIS. Primero individual, luego en plenario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Revisar el plan y entender cómo avanzaremos hacia un rol más estratégico</a:t>
            </a:r>
            <a:endParaRPr lang="en-US" sz="1900" dirty="0"/>
          </a:p>
        </p:txBody>
      </p:sp>
      <p:pic>
        <p:nvPicPr>
          <p:cNvPr id="7" name="Arte Ordenamiento de prioridades" descr="Ordenamiento de priorida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553200" y="7437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Primero, cada uno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53200" y="32887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Luego, en plenario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Resumen del trabajo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4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Participan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Todo el equipo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Resumen del trabajo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Repaso de lo avanzado en la mañana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Aclarar dudas</a:t>
            </a:r>
            <a:endParaRPr lang="en-US" sz="1900" dirty="0"/>
          </a:p>
        </p:txBody>
      </p:sp>
      <p:pic>
        <p:nvPicPr>
          <p:cNvPr id="7" name="Arte Resumen del trabajo" descr="Resumen del trabaj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Fundamentar la respuesta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1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Facilitador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Fundamentar la respuesta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trabajo: mirada desde el diagnóstico CIS. Plenario por grupo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Mirada común, prioridades claras y hoja de ruta compartida</a:t>
            </a:r>
            <a:endParaRPr lang="en-US" sz="1900" dirty="0"/>
          </a:p>
        </p:txBody>
      </p:sp>
      <p:pic>
        <p:nvPicPr>
          <p:cNvPr id="7" name="Arte Fundamentar la respuesta" descr="Fundamentar la respues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Indicadores (KPI)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3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Facilitador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2402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Indicadores (KPI)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6118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trabajo: mirada desde el diagnóstico CIS. Plenario por grupo</a:t>
            </a:r>
            <a:endParaRPr lang="en-US" sz="1900" dirty="0"/>
          </a:p>
        </p:txBody>
      </p:sp>
      <p:sp>
        <p:nvSpPr>
          <p:cNvPr id="6" name="Text 2"/>
          <p:cNvSpPr/>
          <p:nvPr>
            <p:ph idx="106" type="body" hasCustomPrompt="1"/>
          </p:nvPr>
        </p:nvSpPr>
        <p:spPr>
          <a:xfrm>
            <a:off x="731520" y="4901184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Mirada común, prioridades claras y hoja de ruta compartida</a:t>
            </a:r>
            <a:endParaRPr lang="en-US" sz="1900" dirty="0"/>
          </a:p>
        </p:txBody>
      </p:sp>
      <p:pic>
        <p:nvPicPr>
          <p:cNvPr id="7" name="Arte Indicadores (KPI)" descr="Indicadores (KPI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685800"/>
            <a:ext cx="539496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ñeta Conclusiones"/>
          <p:cNvSpPr/>
          <p:nvPr/>
        </p:nvSpPr>
        <p:spPr>
          <a:xfrm>
            <a:off x="731520" y="1764792"/>
            <a:ext cx="329184" cy="402336"/>
          </a:xfrm>
          <a:prstGeom prst="homePlate">
            <a:avLst/>
          </a:prstGeom>
          <a:solidFill>
            <a:schemeClr val="accent5"/>
          </a:solidFill>
          <a:ln/>
        </p:spPr>
      </p:sp>
      <p:sp>
        <p:nvSpPr>
          <p:cNvPr id="3" name="Text 2"/>
          <p:cNvSpPr/>
          <p:nvPr>
            <p:ph idx="103" type="body" hasCustomPrompt="1"/>
          </p:nvPr>
        </p:nvSpPr>
        <p:spPr>
          <a:xfrm>
            <a:off x="1225296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Conduce</a:t>
            </a:r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 Gerente de Personas y equipo</a:t>
            </a:r>
            <a:endParaRPr lang="en-US" sz="1600" dirty="0"/>
          </a:p>
        </p:txBody>
      </p:sp>
      <p:sp>
        <p:nvSpPr>
          <p:cNvPr id="4" name="Text 2"/>
          <p:cNvSpPr/>
          <p:nvPr>
            <p:ph idx="104" type="title" hasCustomPrompt="1"/>
          </p:nvPr>
        </p:nvSpPr>
        <p:spPr>
          <a:xfrm>
            <a:off x="731520" y="219456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Conclusiones y compromisos</a:t>
            </a:r>
            <a:endParaRPr lang="en-US" sz="4200" dirty="0"/>
          </a:p>
        </p:txBody>
      </p:sp>
      <p:sp>
        <p:nvSpPr>
          <p:cNvPr id="5" name="Text 2"/>
          <p:cNvSpPr/>
          <p:nvPr>
            <p:ph idx="105" type="body" hasCustomPrompt="1"/>
          </p:nvPr>
        </p:nvSpPr>
        <p:spPr>
          <a:xfrm>
            <a:off x="731520" y="334670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Cerrar con acuerdos explícitos</a:t>
            </a:r>
            <a:endParaRPr lang="en-US" sz="1900" dirty="0"/>
          </a:p>
        </p:txBody>
      </p:sp>
      <p:pic>
        <p:nvPicPr>
          <p:cNvPr id="6" name="Arte camino" descr="Camino con tres hi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3794760"/>
            <a:ext cx="9966960" cy="21041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59332" y="509600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Mirada común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4526280" y="509600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Prioridades claras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93228" y="509600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Goli SemiBold" pitchFamily="34" charset="0"/>
                <a:ea typeface="Goli SemiBold" pitchFamily="34" charset="-122"/>
                <a:cs typeface="Goli SemiBold" pitchFamily="34" charset="-120"/>
              </a:rPr>
              <a:t>Hoja de ruta compartida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e R35" descr="R35 formado por person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051560"/>
            <a:ext cx="7863840" cy="3280567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chemeClr val="tx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NECESITA A </a:t>
            </a:r>
            <a:pPr algn="ctr" indent="0" marL="0">
              <a:buNone/>
            </a:pPr>
            <a:r>
              <a:rPr lang="en-US" sz="5000" dirty="0">
                <a:solidFill>
                  <a:schemeClr val="accent1"/>
                </a:solidFill>
                <a:latin typeface="Goli Bold" pitchFamily="34" charset="0"/>
                <a:ea typeface="Goli Bold" pitchFamily="34" charset="-122"/>
                <a:cs typeface="Goli Bold" pitchFamily="34" charset="-120"/>
              </a:rPr>
              <a:t>PERSONAS.</a:t>
            </a:r>
            <a:endParaRPr lang="en-US" sz="5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xiquim Jornada GPER">
  <a:themeElements>
    <a:clrScheme name="Oxiquim Jornada GPER">
      <a:dk1>
        <a:srgbClr val="162851"/>
      </a:dk1>
      <a:lt1>
        <a:srgbClr val="FFFFFF"/>
      </a:lt1>
      <a:dk2>
        <a:srgbClr val="4B5571"/>
      </a:dk2>
      <a:lt2>
        <a:srgbClr val="F4F7FC"/>
      </a:lt2>
      <a:accent1>
        <a:srgbClr val="0055B8"/>
      </a:accent1>
      <a:accent2>
        <a:srgbClr val="2A6FC4"/>
      </a:accent2>
      <a:accent3>
        <a:srgbClr val="225F58"/>
      </a:accent3>
      <a:accent4>
        <a:srgbClr val="819E49"/>
      </a:accent4>
      <a:accent5>
        <a:srgbClr val="410C5C"/>
      </a:accent5>
      <a:accent6>
        <a:srgbClr val="F9AB3A"/>
      </a:accent6>
      <a:hlink>
        <a:srgbClr val="0055B8"/>
      </a:hlink>
      <a:folHlink>
        <a:srgbClr val="410C5C"/>
      </a:folHlink>
    </a:clrScheme>
    <a:fontScheme name="Oxiquim Jornada GPER">
      <a:majorFont>
        <a:latin typeface="Goli 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Oxiquim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Jornada Gerencia de Personas · Del diagnóstico a la acción</dc:title>
  <dc:subject>PptxGenJS Presentation</dc:subject>
  <dc:creator>Gerencia de Personas · Oxiquim</dc:creator>
  <cp:lastModifiedBy>Gerencia de Personas · Oxiquim</cp:lastModifiedBy>
  <cp:revision>1</cp:revision>
  <dcterms:created xsi:type="dcterms:W3CDTF">2026-10-07T00:15:48Z</dcterms:created>
  <dcterms:modified xsi:type="dcterms:W3CDTF">2026-10-07T00:15:48Z</dcterms:modified>
</cp:coreProperties>
</file>