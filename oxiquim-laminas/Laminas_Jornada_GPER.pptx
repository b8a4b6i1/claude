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ertura" id="{7e4b85b7-54f8-2111-f120-a6e2ebae7ff8}">
          <p14:sldIdLst>
            <p14:sldId id="256"/>
          </p14:sldIdLst>
        </p14:section>
        <p14:section name="Actividades" id="{468dc6ad-4ffb-6438-b4b0-45152655c041}">
          <p14:sldIdLst>
            <p14:sldId id="257"/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Cierre" id="{5bd504cc-13b0-e2a5-1ac0-7e2400c6e4dc}">
          <p14:sldIdLst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Bienvenida. Jornada Gerencia de Personas «Del diagnóstico a la acción». Miércoles 7 de octubre, Casa Conecta, 9:00 a 20:00.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09:00 – 10:00 · Gerente de Personas. Resultados del diagnóstico. Presentación de los resultados de CIS Consultores. Para qué: Conocer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10:00 – 10:15 · Todos. Conversación en grupos. Y luego, preguntas al plenario. Para qué: Procesar los resultados.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10:30 – 13:30 · Parte 1  ·  Gerente de Personas. Ordenamiento de prioridades. Plan de trabajo: mirada desde el diagnóstico CIS. Primero individual, luego en plenario. Para qué: Revisar el plan y entender cómo avanzaremos hacia un rol más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14:30 – 14:45 · Todos. Resumen del trabajo. Repaso de lo avanzado en la mañana. Para qué: Aclarar dudas.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14:45 – 15:45 · Parte 2  ·  Facilitador. Fundamentar la respuesta. Plan de trabajo: mirada desde el diagnóstico CIS. Plenario por grupo. Para qué: Mirada común, prioridades claras y hoja de ruta compartida.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16:00 – 17:00 · Parte 2  ·  Facilitador. Indicadores (KPI). Plan de trabajo: mirada desde el diagnóstico CIS. Plenario por grupo. Para qué: Mirada común, prioridades claras y hoja de ruta compartida.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17:00 – 17:30 · Gerente de Personas y equipo. Conclusiones y compromisos. Para qué: cerrar con acuerdos explícitos. Resultados del día: mirada común, prioridades claras y hoja de ruta compartida.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«R35 necesita a personas».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IENVENID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claude/oxiquim-laminas/ar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84168" y="1600200"/>
            <a:ext cx="4023360" cy="821436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914400" y="3063240"/>
            <a:ext cx="10362895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3200" dirty="0">
                <a:solidFill>
                  <a:schemeClr val="tx2"/>
                </a:solidFill>
                <a:latin typeface="Goli Medium" pitchFamily="34" charset="0"/>
                <a:ea typeface="Goli Medium" pitchFamily="34" charset="-122"/>
                <a:cs typeface="Goli Medium" pitchFamily="34" charset="-120"/>
              </a:defRPr>
            </a:lvl1pPr>
          </a:lstStyle>
          <a:p>
            <a:pPr algn="ctr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3749040"/>
            <a:ext cx="11094415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6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defRPr>
            </a:lvl1pPr>
          </a:lstStyle>
          <a:p>
            <a:pPr algn="ctr" indent="0" marL="0">
              <a:buNone/>
            </a:pPr>
            <a:endParaRPr lang="en-US" sz="5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R35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ctr" indent="0" marL="0">
              <a:buNone/>
              <a:defRPr lang="en-US" sz="50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defRPr>
            </a:lvl1pPr>
          </a:lstStyle>
          <a:p>
            <a:pPr algn="ctr" indent="0" marL="0">
              <a:buNone/>
            </a:pPr>
            <a:endParaRPr lang="en-US" sz="50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DAD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4590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PARA QUÉ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Jornada Gerencia de Personas  ·  Del diagnóstico a la acción</a:t>
            </a:r>
            <a:endParaRPr lang="en-US" sz="1100" dirty="0"/>
          </a:p>
        </p:txBody>
      </p:sp>
      <p:pic>
        <p:nvPicPr>
          <p:cNvPr id="4" name="Image 0" descr="/home/user/claude/oxiquim-laminas/ar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263640"/>
            <a:ext cx="1097280" cy="224028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95000"/>
              </a:lnSpc>
              <a:buNone/>
              <a:def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defRPr>
            </a:lvl1pPr>
          </a:lstStyle>
          <a:p>
            <a:pPr algn="l" indent="0" marL="0">
              <a:lnSpc>
                <a:spcPct val="95000"/>
              </a:lnSpc>
              <a:buNone/>
            </a:pPr>
            <a:endParaRPr lang="en-US" sz="42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1900" dirty="0"/>
          </a:p>
        </p:txBody>
      </p:sp>
      <p:sp>
        <p:nvSpPr>
          <p:cNvPr id="8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lnSpc>
                <a:spcPct val="110000"/>
              </a:lnSpc>
              <a:buNone/>
              <a:def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lnSpc>
                <a:spcPct val="110000"/>
              </a:lnSpc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TIVIDAD_ANCH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03580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300" kern="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PARA QUÉ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6272784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Jornada Gerencia de Personas  ·  Del diagnóstico a la acción</a:t>
            </a:r>
            <a:endParaRPr lang="en-US" sz="1100" dirty="0"/>
          </a:p>
        </p:txBody>
      </p:sp>
      <p:pic>
        <p:nvPicPr>
          <p:cNvPr id="4" name="Image 0" descr="/home/user/claude/oxiquim-laminas/art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0152" y="6263640"/>
            <a:ext cx="1097280" cy="224028"/>
          </a:xfrm>
          <a:prstGeom prst="rect">
            <a:avLst/>
          </a:prstGeom>
        </p:spPr>
      </p:pic>
      <p:sp>
        <p:nvSpPr>
          <p:cNvPr id="5" name="Text 2"/>
          <p:cNvSpPr/>
          <p:nvPr>
            <p:ph idx="103" type="body" hasCustomPrompt="1"/>
          </p:nvPr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  <p:sp>
        <p:nvSpPr>
          <p:cNvPr id="6" name="Text 2"/>
          <p:cNvSpPr/>
          <p:nvPr>
            <p:ph idx="104" type="title" hasCustomPrompt="1"/>
          </p:nvPr>
        </p:nvSpPr>
        <p:spPr>
          <a:xfrm>
            <a:off x="731520" y="2194560"/>
            <a:ext cx="106984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defRPr>
            </a:lvl1pPr>
          </a:lstStyle>
          <a:p>
            <a:pPr algn="l" indent="0" marL="0">
              <a:buNone/>
            </a:pPr>
            <a:endParaRPr lang="en-US" sz="4200" dirty="0"/>
          </a:p>
        </p:txBody>
      </p:sp>
      <p:sp>
        <p:nvSpPr>
          <p:cNvPr id="7" name="Text 2"/>
          <p:cNvSpPr/>
          <p:nvPr>
            <p:ph idx="105" type="body" hasCustomPrompt="1"/>
          </p:nvPr>
        </p:nvSpPr>
        <p:spPr>
          <a:xfrm>
            <a:off x="731520" y="3346704"/>
            <a:ext cx="1069848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defRPr>
            </a:lvl1pPr>
          </a:lstStyle>
          <a:p>
            <a:pPr algn="l" indent="0" marL="0">
              <a:buNone/>
            </a:pPr>
            <a:endParaRPr lang="en-US" sz="19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914400" y="3063240"/>
            <a:ext cx="103628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chemeClr val="tx2"/>
                </a:solidFill>
                <a:latin typeface="Goli Medium" pitchFamily="34" charset="0"/>
                <a:ea typeface="Goli Medium" pitchFamily="34" charset="-122"/>
                <a:cs typeface="Goli Medium" pitchFamily="34" charset="-120"/>
              </a:rPr>
              <a:t>Bienvenidos a la jornada</a:t>
            </a:r>
            <a:endParaRPr lang="en-US" sz="3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374904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“Del diagnóstico a la </a:t>
            </a:r>
            <a:pPr algn="ctr" indent="0" marL="0">
              <a:buNone/>
            </a:pPr>
            <a:r>
              <a:rPr lang="en-US" sz="5600" dirty="0">
                <a:solidFill>
                  <a:schemeClr val="accent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acción”</a:t>
            </a:r>
            <a:endParaRPr lang="en-US" sz="5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1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3" name="Número 1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1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09:00 – 10:00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Gerente de Personas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Resultados del diagnóstico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Presentación de los resultados de CIS Consultores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Conocer los resultados</a:t>
            </a:r>
            <a:endParaRPr lang="en-US" sz="1900" dirty="0"/>
          </a:p>
        </p:txBody>
      </p:sp>
      <p:pic>
        <p:nvPicPr>
          <p:cNvPr id="8" name="Arte Resultados del diagnóstico" descr="Resultados del diagnóstic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2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3"/>
          </a:solidFill>
          <a:ln/>
        </p:spPr>
      </p:sp>
      <p:sp>
        <p:nvSpPr>
          <p:cNvPr id="3" name="Número 2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2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10:00 – 10:15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Todos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Conversación en grupos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 luego, preguntas al plenario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Procesar los resultados</a:t>
            </a:r>
            <a:endParaRPr lang="en-US" sz="1900" dirty="0"/>
          </a:p>
        </p:txBody>
      </p:sp>
      <p:pic>
        <p:nvPicPr>
          <p:cNvPr id="8" name="Arte Conversación en grupos" descr="Conversación en grup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3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5"/>
          </a:solidFill>
          <a:ln/>
        </p:spPr>
      </p:sp>
      <p:sp>
        <p:nvSpPr>
          <p:cNvPr id="3" name="Número 3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3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10:30 – 13:30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Parte 1  ·  Gerente de Personas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Ordenamiento de prioridades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trabajo: mirada desde el diagnóstico CIS. Primero individual, luego en plenario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Revisar el plan y entender cómo avanzaremos hacia un rol más estratégico</a:t>
            </a:r>
            <a:endParaRPr lang="en-US" sz="1900" dirty="0"/>
          </a:p>
        </p:txBody>
      </p:sp>
      <p:pic>
        <p:nvPicPr>
          <p:cNvPr id="8" name="Arte Ordenamiento de prioridades" descr="Ordenamiento de prioridad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6553200" y="7437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Primero, cada uno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6553200" y="328879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2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Luego, en plenario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4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4"/>
          </a:solidFill>
          <a:ln/>
        </p:spPr>
      </p:sp>
      <p:sp>
        <p:nvSpPr>
          <p:cNvPr id="3" name="Número 4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4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14:30 – 14:45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Todos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Resumen del trabajo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Repaso de lo avanzado en la mañana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Aclarar dudas</a:t>
            </a:r>
            <a:endParaRPr lang="en-US" sz="1900" dirty="0"/>
          </a:p>
        </p:txBody>
      </p:sp>
      <p:pic>
        <p:nvPicPr>
          <p:cNvPr id="8" name="Arte Resumen del trabajo" descr="Resumen del trabaj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5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1"/>
          </a:solidFill>
          <a:ln/>
        </p:spPr>
      </p:sp>
      <p:sp>
        <p:nvSpPr>
          <p:cNvPr id="3" name="Número 5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5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14:45 – 15:45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Parte 2  ·  Facilitador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Fundamentar la respuesta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trabajo: mirada desde el diagnóstico CIS. Plenario por grupo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Mirada común, prioridades claras y hoja de ruta compartida</a:t>
            </a:r>
            <a:endParaRPr lang="en-US" sz="1900" dirty="0"/>
          </a:p>
        </p:txBody>
      </p:sp>
      <p:pic>
        <p:nvPicPr>
          <p:cNvPr id="8" name="Arte Fundamentar la respuesta" descr="Fundamentar la respuest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6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3"/>
          </a:solidFill>
          <a:ln/>
        </p:spPr>
      </p:sp>
      <p:sp>
        <p:nvSpPr>
          <p:cNvPr id="3" name="Número 6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6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16:00 – 17:00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Parte 2  ·  Facilitador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2402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Indicadores (KPI)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611880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Plan de trabajo: mirada desde el diagnóstico CIS. Plenario por grupo</a:t>
            </a:r>
            <a:endParaRPr lang="en-US" sz="1900" dirty="0"/>
          </a:p>
        </p:txBody>
      </p:sp>
      <p:sp>
        <p:nvSpPr>
          <p:cNvPr id="7" name="Text 2"/>
          <p:cNvSpPr/>
          <p:nvPr>
            <p:ph idx="106" type="body" hasCustomPrompt="1"/>
          </p:nvPr>
        </p:nvSpPr>
        <p:spPr>
          <a:xfrm>
            <a:off x="731520" y="4901184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Mirada común, prioridades claras y hoja de ruta compartida</a:t>
            </a:r>
            <a:endParaRPr lang="en-US" sz="1900" dirty="0"/>
          </a:p>
        </p:txBody>
      </p:sp>
      <p:pic>
        <p:nvPicPr>
          <p:cNvPr id="8" name="Arte Indicadores (KPI)" descr="Indicadores (KPI)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685800"/>
            <a:ext cx="539496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estaña 7"/>
          <p:cNvSpPr/>
          <p:nvPr/>
        </p:nvSpPr>
        <p:spPr>
          <a:xfrm>
            <a:off x="731520" y="914400"/>
            <a:ext cx="896112" cy="676656"/>
          </a:xfrm>
          <a:prstGeom prst="homePlate">
            <a:avLst/>
          </a:prstGeom>
          <a:solidFill>
            <a:schemeClr val="accent5"/>
          </a:solidFill>
          <a:ln/>
        </p:spPr>
      </p:sp>
      <p:sp>
        <p:nvSpPr>
          <p:cNvPr id="3" name="Número 7"/>
          <p:cNvSpPr txBox="1"/>
          <p:nvPr/>
        </p:nvSpPr>
        <p:spPr>
          <a:xfrm>
            <a:off x="731520" y="914400"/>
            <a:ext cx="6583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7</a:t>
            </a:r>
            <a:endParaRPr lang="en-US" sz="3000" dirty="0"/>
          </a:p>
        </p:txBody>
      </p:sp>
      <p:sp>
        <p:nvSpPr>
          <p:cNvPr id="4" name="Text 2"/>
          <p:cNvSpPr/>
          <p:nvPr>
            <p:ph idx="103" type="body" hasCustomPrompt="1"/>
          </p:nvPr>
        </p:nvSpPr>
        <p:spPr>
          <a:xfrm>
            <a:off x="731520" y="178308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chemeClr val="accent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17:00 – 17:30</a:t>
            </a:r>
            <a:pPr algn="l"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 ·   Gerente de Personas y equipo</a:t>
            </a:r>
            <a:endParaRPr lang="en-US" sz="1600" dirty="0"/>
          </a:p>
        </p:txBody>
      </p:sp>
      <p:sp>
        <p:nvSpPr>
          <p:cNvPr id="5" name="Text 2"/>
          <p:cNvSpPr/>
          <p:nvPr>
            <p:ph idx="104" type="title" hasCustomPrompt="1"/>
          </p:nvPr>
        </p:nvSpPr>
        <p:spPr>
          <a:xfrm>
            <a:off x="731520" y="219456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2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Conclusiones y compromisos</a:t>
            </a:r>
            <a:endParaRPr lang="en-US" sz="4200" dirty="0"/>
          </a:p>
        </p:txBody>
      </p:sp>
      <p:sp>
        <p:nvSpPr>
          <p:cNvPr id="6" name="Text 2"/>
          <p:cNvSpPr/>
          <p:nvPr>
            <p:ph idx="105" type="body" hasCustomPrompt="1"/>
          </p:nvPr>
        </p:nvSpPr>
        <p:spPr>
          <a:xfrm>
            <a:off x="731520" y="3346704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Cerrar con acuerdos explícitos</a:t>
            </a:r>
            <a:endParaRPr lang="en-US" sz="1900" dirty="0"/>
          </a:p>
        </p:txBody>
      </p:sp>
      <p:pic>
        <p:nvPicPr>
          <p:cNvPr id="7" name="Arte camino" descr="Camino con tres hit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3794760"/>
            <a:ext cx="9966960" cy="210413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259332" y="50960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Mirada común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526280" y="50960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Prioridades claras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7793228" y="509600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chemeClr val="tx1"/>
                </a:solidFill>
                <a:latin typeface="Goli SemiBold" pitchFamily="34" charset="0"/>
                <a:ea typeface="Goli SemiBold" pitchFamily="34" charset="-122"/>
                <a:cs typeface="Goli SemiBold" pitchFamily="34" charset="-120"/>
              </a:rPr>
              <a:t>Hoja de ruta compartida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Arte R35" descr="R35 formado por persona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63928" y="1051560"/>
            <a:ext cx="7863840" cy="3280567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0" type="title" hasCustomPrompt="1"/>
          </p:nvPr>
        </p:nvSpPr>
        <p:spPr>
          <a:xfrm>
            <a:off x="548640" y="457200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dirty="0">
                <a:solidFill>
                  <a:schemeClr val="tx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NECESITA A </a:t>
            </a:r>
            <a:pPr algn="ctr" indent="0" marL="0">
              <a:buNone/>
            </a:pPr>
            <a:r>
              <a:rPr lang="en-US" sz="5000" dirty="0">
                <a:solidFill>
                  <a:schemeClr val="accent1"/>
                </a:solidFill>
                <a:latin typeface="Goli Bold" pitchFamily="34" charset="0"/>
                <a:ea typeface="Goli Bold" pitchFamily="34" charset="-122"/>
                <a:cs typeface="Goli Bold" pitchFamily="34" charset="-120"/>
              </a:rPr>
              <a:t>PERSONAS.</a:t>
            </a:r>
            <a:endParaRPr lang="en-US" sz="5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xiquim Jornada GPER">
  <a:themeElements>
    <a:clrScheme name="Oxiquim Jornada GPER">
      <a:dk1>
        <a:srgbClr val="162851"/>
      </a:dk1>
      <a:lt1>
        <a:srgbClr val="FFFFFF"/>
      </a:lt1>
      <a:dk2>
        <a:srgbClr val="4B5571"/>
      </a:dk2>
      <a:lt2>
        <a:srgbClr val="F4F7FC"/>
      </a:lt2>
      <a:accent1>
        <a:srgbClr val="0055B8"/>
      </a:accent1>
      <a:accent2>
        <a:srgbClr val="2A6FC4"/>
      </a:accent2>
      <a:accent3>
        <a:srgbClr val="225F58"/>
      </a:accent3>
      <a:accent4>
        <a:srgbClr val="819E49"/>
      </a:accent4>
      <a:accent5>
        <a:srgbClr val="410C5C"/>
      </a:accent5>
      <a:accent6>
        <a:srgbClr val="F9AB3A"/>
      </a:accent6>
      <a:hlink>
        <a:srgbClr val="0055B8"/>
      </a:hlink>
      <a:folHlink>
        <a:srgbClr val="410C5C"/>
      </a:folHlink>
    </a:clrScheme>
    <a:fontScheme name="Oxiquim Jornada GPER">
      <a:majorFont>
        <a:latin typeface="Goli 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rebuchet M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Oxiquim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Jornada Gerencia de Personas · Del diagnóstico a la acción</dc:title>
  <dc:subject>PptxGenJS Presentation</dc:subject>
  <dc:creator>Gerencia de Personas · Oxiquim</dc:creator>
  <cp:lastModifiedBy>Gerencia de Personas · Oxiquim</cp:lastModifiedBy>
  <cp:revision>1</cp:revision>
  <dcterms:created xsi:type="dcterms:W3CDTF">2026-10-06T23:59:23Z</dcterms:created>
  <dcterms:modified xsi:type="dcterms:W3CDTF">2026-10-06T23:59:23Z</dcterms:modified>
</cp:coreProperties>
</file>